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47472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12192000" cy="73152"/>
          </a:xfrm>
          <a:prstGeom prst="rect">
            <a:avLst/>
          </a:prstGeom>
          <a:solidFill>
            <a:srgbClr val="E9A824"/>
          </a:solidFill>
          <a:ln w="12700">
            <a:solidFill>
              <a:srgbClr val="E9A8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Terroir.ma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9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Digital Certification Platform for Moroccan SDOQ Products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9A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première plateforme marocaine de certification SDOQ numérique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9A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 la terre au QR code. Prouvé."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9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"From soil to code. Proved."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892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9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"من الأرض إلى الكود. مثبت."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25-06 SDOQ  ·  fr · ar · ⵜⴼⵉⵏⴰⵖ  ·  HMAC-SHA256  ·  &lt; 2 seconds  ·  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6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77440"/>
            <a:ext cx="12192000" cy="54864"/>
          </a:xfrm>
          <a:prstGeom prst="rect">
            <a:avLst/>
          </a:prstGeom>
          <a:solidFill>
            <a:srgbClr val="E9A824"/>
          </a:solidFill>
          <a:ln w="12700">
            <a:solidFill>
              <a:srgbClr val="E9A8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25603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E9A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— International Investors · EU Buyers · Tech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9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terroir.ma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A824"/>
          </a:solidFill>
          <a:ln w="12700">
            <a:solidFill>
              <a:srgbClr val="E9A8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914400"/>
            <a:ext cx="9034272" cy="36576"/>
          </a:xfrm>
          <a:prstGeom prst="rect">
            <a:avLst/>
          </a:prstGeom>
          <a:solidFill>
            <a:srgbClr val="E9A824"/>
          </a:solidFill>
          <a:ln w="12700">
            <a:solidFill>
              <a:srgbClr val="E9A8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8595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Morocco loses €200M+ per year to counterfeit terroir products.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because certifications don't exist.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because cooperatives aren't doing their job.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because labs aren't testing.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everything that matters is on paper. In Arabic. In a drawer.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at 9pm to a buyer in Frankfurt.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cooperative in Taliouine holds every ONSSA certificate, every lab result.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German importer asks for "a verifiable digital certificate" before signing €80,000.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cannot provide it.  →  She loses the contract.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happens hundreds of times a year across Morocco's 1,800+ SDOQ cooperatives.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9A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terroir.ma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A824"/>
          </a:solidFill>
          <a:ln w="12700">
            <a:solidFill>
              <a:srgbClr val="E9A8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914400"/>
            <a:ext cx="9034272" cy="36576"/>
          </a:xfrm>
          <a:prstGeom prst="rect">
            <a:avLst/>
          </a:prstGeom>
          <a:solidFill>
            <a:srgbClr val="E9A824"/>
          </a:solidFill>
          <a:ln w="12700">
            <a:solidFill>
              <a:srgbClr val="E9A8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Opportunity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32004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SDOQ-registered cooperatives in Morocco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1,800+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Official SDOQ labels (AOP / IGP / Label Agricole)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terroir export 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€300M+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annual loss to counterfeits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€180–220M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Farm-to-Fork digital traceability deadline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Cooperatives without digital certification today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0467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9A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terroir.ma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A824"/>
          </a:solidFill>
          <a:ln w="12700">
            <a:solidFill>
              <a:srgbClr val="E9A8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914400"/>
            <a:ext cx="9034272" cy="36576"/>
          </a:xfrm>
          <a:prstGeom prst="rect">
            <a:avLst/>
          </a:prstGeom>
          <a:solidFill>
            <a:srgbClr val="E9A824"/>
          </a:solidFill>
          <a:ln w="12700">
            <a:solidFill>
              <a:srgbClr val="E9A8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— One QR Code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8595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Terroir.ma adds a digital layer on top of the existing SDOQ process without replacing any step.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Cooperative registers in 15 minutes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Harvest logged with GPS farm coordinates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Lab results submitted digitally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Inspector files report via tablet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Certification body grants or denies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One atomic transaction generates: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• Cryptographically signed QR code (HMAC-SHA256)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• Sequential certification number: TERROIR-IGP-TLN-2025-018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• Trilingual verification payload: French · Arabic · Tifinagh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• Immutable audit trail of every step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scans the QR → 1.8 seconds → full chain → no intermediaries.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9A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terroir.ma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A824"/>
          </a:solidFill>
          <a:ln w="12700">
            <a:solidFill>
              <a:srgbClr val="E9A8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914400"/>
            <a:ext cx="9034272" cy="36576"/>
          </a:xfrm>
          <a:prstGeom prst="rect">
            <a:avLst/>
          </a:prstGeom>
          <a:solidFill>
            <a:srgbClr val="E9A824"/>
          </a:solidFill>
          <a:ln w="12700">
            <a:solidFill>
              <a:srgbClr val="E9A8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  <a:gridCol w="36576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matters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Framework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NestJS 10 / TypeScript strict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Hexagonal, testable, production-grade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16 + PostGIS 3.4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 GPS, ACID guarantees, JSONB lab params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Bus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Redpanda (Kafka-compatible)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events, DLQ, idempotent processing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Keycloak 24 (OIDC)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roles, JWT, zero custom auth code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 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 verification &lt; 200ms p99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 Signing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HMAC-SHA256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algorithm used by international banks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Modular monolith → microservices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extraction path in Phase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0467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9A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terroir.ma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A824"/>
          </a:solidFill>
          <a:ln w="12700">
            <a:solidFill>
              <a:srgbClr val="E9A8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914400"/>
            <a:ext cx="9034272" cy="36576"/>
          </a:xfrm>
          <a:prstGeom prst="rect">
            <a:avLst/>
          </a:prstGeom>
          <a:solidFill>
            <a:srgbClr val="E9A824"/>
          </a:solidFill>
          <a:ln w="12700">
            <a:solidFill>
              <a:srgbClr val="E9A8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463040"/>
                <a:gridCol w="1828800"/>
                <a:gridCol w="1737360"/>
                <a:gridCol w="12801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Amazigh Support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Signed QR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Law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INAO Digital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French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DOP Portal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Italian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AgriTrace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Ghana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Terroir.ma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Morocco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Tifinagh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HMAC-SHA256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Law 25-06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0467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9A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terroir.ma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A824"/>
          </a:solidFill>
          <a:ln w="12700">
            <a:solidFill>
              <a:srgbClr val="E9A8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914400"/>
            <a:ext cx="9034272" cy="36576"/>
          </a:xfrm>
          <a:prstGeom prst="rect">
            <a:avLst/>
          </a:prstGeom>
          <a:solidFill>
            <a:srgbClr val="E9A824"/>
          </a:solidFill>
          <a:ln w="12700">
            <a:solidFill>
              <a:srgbClr val="E9A8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— 3 Revenue Lines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26517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 — Cooperatives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MAD / month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100K MAD/mo at 500 coops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B2G — Government &amp; Institutions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500K–2M MAD / 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MAPMDREF / ONSSA contract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Export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SLA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importers, cert. bodies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/ After ROI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Certification cycle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days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days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Buyer verification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 call + 3 days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 scan in 2 seconds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Counterfeit detection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Impossible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 QR returns 404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0467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9A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terroir.ma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A824"/>
          </a:solidFill>
          <a:ln w="12700">
            <a:solidFill>
              <a:srgbClr val="E9A8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914400"/>
            <a:ext cx="9034272" cy="36576"/>
          </a:xfrm>
          <a:prstGeom prst="rect">
            <a:avLst/>
          </a:prstGeom>
          <a:solidFill>
            <a:srgbClr val="E9A824"/>
          </a:solidFill>
          <a:ln w="12700">
            <a:solidFill>
              <a:srgbClr val="E9A8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Timeline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8595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✅  Foundation — 308 files · full infra · 4 domain modules · 40 test files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✅  Core Logic — DB migrations · cooperative verify flow · sequential cert numbers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🔵  Certification API — end-to-end workflow · QR verification endpoint (in progress)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⬜  Pilot Ready — 3 cooperatives · seeded data · Swagger docs · Prometheus monitoring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 story points planned  ·  99 delivered  ·  On schedule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10 ADR documents · CNDP compliant · Testcontainers integration tests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run against real PostgreSQL databases — not mocks.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9A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terroir.ma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A824"/>
          </a:solidFill>
          <a:ln w="12700">
            <a:solidFill>
              <a:srgbClr val="E9A8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914400"/>
            <a:ext cx="9034272" cy="36576"/>
          </a:xfrm>
          <a:prstGeom prst="rect">
            <a:avLst/>
          </a:prstGeom>
          <a:solidFill>
            <a:srgbClr val="E9A824"/>
          </a:solidFill>
          <a:ln w="12700">
            <a:solidFill>
              <a:srgbClr val="E9A8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8595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asking for a million dollars.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3-COOPERATIVE PILOT (from MAPMDREF / ONSSA / cooperative federation)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12 weeks  ·  Real data  ·  Full impact report  ·  Zero infra cost to you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OFFICIAL COMPLIANCE ENDORSEMENT (from MAPMDREF Direction SDOQ)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One sentence: "Terroir.ma is Law 25-06 compliant"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That sentence is worth more to this platform than any investment round.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STRATEGIC INVESTOR (agri-tech, impact, or EU market fund)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Series A pathway  ·  B2G contract support  ·  Morocco-first expansion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built. The tests pass. The architecture is published.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question: are you in?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9A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terroir.ma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0848" y="0"/>
            <a:ext cx="73152" cy="68580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9A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woman who picks saffron threads by hand in Taliouine before dawn deserves the same protection a French AOC château gets in Bordeaux.</a:t>
            </a:r>
            <a:endParaRPr lang="en-US" sz="2000" dirty="0"/>
          </a:p>
          <a:p>
            <a:pPr algn="l" indent="0" marL="0">
              <a:lnSpc>
                <a:spcPct val="140000"/>
              </a:lnSpc>
              <a:buNone/>
            </a:pPr>
            <a:endParaRPr lang="en-US" sz="2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argan oil deserves to be distinguishable from the fake — not by words, but by proof.</a:t>
            </a:r>
            <a:endParaRPr lang="en-US" sz="2000" dirty="0"/>
          </a:p>
          <a:p>
            <a:pPr algn="l" indent="0" marL="0">
              <a:lnSpc>
                <a:spcPct val="140000"/>
              </a:lnSpc>
              <a:buNone/>
            </a:pPr>
            <a:endParaRPr lang="en-US" sz="2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Morocco's agricultural heritage — built over generations, earned with real labor, certified under real law — deserves digital infrastructure that protects it.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5212080"/>
            <a:ext cx="8229600" cy="36576"/>
          </a:xfrm>
          <a:prstGeom prst="rect">
            <a:avLst/>
          </a:prstGeom>
          <a:solidFill>
            <a:srgbClr val="E9A824"/>
          </a:solidFill>
          <a:ln w="12700">
            <a:solidFill>
              <a:srgbClr val="E9A8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349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Terroir.ma is that infrastructure. Built. Tested. Ready.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6126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terroir.ma  ·  April 2026  ·  Sprint 1 + 2 Complete  ·  204 Story Points MVP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6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77440"/>
            <a:ext cx="12192000" cy="54864"/>
          </a:xfrm>
          <a:prstGeom prst="rect">
            <a:avLst/>
          </a:prstGeom>
          <a:solidFill>
            <a:srgbClr val="E9A824"/>
          </a:solidFill>
          <a:ln w="12700">
            <a:solidFill>
              <a:srgbClr val="E9A8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25603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E9A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Français — MAPMDREF · ONSSA · Investisseurs francophones · Partenaires stratégiques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9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terroir.ma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A824"/>
          </a:solidFill>
          <a:ln w="12700">
            <a:solidFill>
              <a:srgbClr val="E9A8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914400"/>
            <a:ext cx="9034272" cy="36576"/>
          </a:xfrm>
          <a:prstGeom prst="rect">
            <a:avLst/>
          </a:prstGeom>
          <a:solidFill>
            <a:srgbClr val="E9A824"/>
          </a:solidFill>
          <a:ln w="12700">
            <a:solidFill>
              <a:srgbClr val="E9A8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8595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Maroc perd plus de 200 millions d'euros par an à cause des produits terroir contrefaits.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parce que les certifications n'existent pas.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parce que les coopératives ne font pas leur travail.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parce que les laboratoires ne testent pas.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 que tout ce qui compte est sur papier. En arabe. Dans un tiroir.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à 21h pour un acheteur à Francfort.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Fatima dirige une coopérative de 28 membres à Taliouine.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importateur allemand demande "un certificat numérique vérifiable" avant de signer 80 000 €.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ne peut pas le fournir.  →  Elle perd le contrat.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situation se reproduit des centaines de fois par an.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9A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terroir.ma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A824"/>
          </a:solidFill>
          <a:ln w="12700">
            <a:solidFill>
              <a:srgbClr val="E9A8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914400"/>
            <a:ext cx="9034272" cy="36576"/>
          </a:xfrm>
          <a:prstGeom prst="rect">
            <a:avLst/>
          </a:prstGeom>
          <a:solidFill>
            <a:srgbClr val="E9A824"/>
          </a:solidFill>
          <a:ln w="12700">
            <a:solidFill>
              <a:srgbClr val="E9A8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Marché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32004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Indicateur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Coopératives SDOQ enregistrées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1 800+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Labels SDOQ officiels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 annuelle des exportations terroir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M€+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Perte annuelle due aux contrefaçons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180–220 M€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Échéance Farm-to-Fork (traçabilité numérique UE)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Coopératives sans certification numérique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~98 %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0467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9A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terroir.ma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A824"/>
          </a:solidFill>
          <a:ln w="12700">
            <a:solidFill>
              <a:srgbClr val="E9A8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914400"/>
            <a:ext cx="9034272" cy="36576"/>
          </a:xfrm>
          <a:prstGeom prst="rect">
            <a:avLst/>
          </a:prstGeom>
          <a:solidFill>
            <a:srgbClr val="E9A824"/>
          </a:solidFill>
          <a:ln w="12700">
            <a:solidFill>
              <a:srgbClr val="E9A8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— Un QR Code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8595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Terroir.ma ajoute une couche numérique au-dessus du processus SDOQ existant — sans remplacer une seule étape.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Enregistrement coopérative en 15 minutes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Récolte saisie avec coordonnées GPS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Résultats laboratoire soumis numériquement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Inspecteur dépose son rapport sur tablette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Organisme de certification accorde ou refuse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Une transaction atomique génère :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• QR code signé cryptographiquement (HMAC-SHA256)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• Numéro séquentiel : TERROIR-AOP-SOUSS-2025-047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• Payload trilingue : Français · Arabe · Tifinagh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• Piste d'audit immuable de chaque étape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N'importe qui scanne le QR → 1,8 seconde → chaîne complète → sans intermédiaire.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9A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terroir.ma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A824"/>
          </a:solidFill>
          <a:ln w="12700">
            <a:solidFill>
              <a:srgbClr val="E9A8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914400"/>
            <a:ext cx="9034272" cy="36576"/>
          </a:xfrm>
          <a:prstGeom prst="rect">
            <a:avLst/>
          </a:prstGeom>
          <a:solidFill>
            <a:srgbClr val="E9A824"/>
          </a:solidFill>
          <a:ln w="12700">
            <a:solidFill>
              <a:srgbClr val="E9A8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 Concurrentiel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463040"/>
                <a:gridCol w="1828800"/>
                <a:gridCol w="1737360"/>
                <a:gridCol w="12801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Plateforme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Tifinagh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 signé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Loi locale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INAO Digital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Loi française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DOP Portal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Italie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Loi italienne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AgriTrace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Ghana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Terroir.ma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Maroc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Tifinagh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HMAC-SHA256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Loi 25-06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0467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9A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terroir.ma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A824"/>
          </a:solidFill>
          <a:ln w="12700">
            <a:solidFill>
              <a:srgbClr val="E9A8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914400"/>
            <a:ext cx="9034272" cy="36576"/>
          </a:xfrm>
          <a:prstGeom prst="rect">
            <a:avLst/>
          </a:prstGeom>
          <a:solidFill>
            <a:srgbClr val="E9A824"/>
          </a:solidFill>
          <a:ln w="12700">
            <a:solidFill>
              <a:srgbClr val="E9A8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Économique — 3 Lignes de Revenus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26517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Ligne de revenus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Échelle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 — Coopératives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MAD / mois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K MAD/mois à 500 coopératives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B2G — Institutions publiques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K–2 M MAD / 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 annuel MAPMDREF / ONSSA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Export Premium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 sur devis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Importateurs UE, organismes cert.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Avant / Après ROI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Après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 de certification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jours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jours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Vérification acheteur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Appel + 3 jours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 QR en 2 secondes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Protection contrefaçon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Impossible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Faux QR retourne 404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0467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9A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terroir.ma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A824"/>
          </a:solidFill>
          <a:ln w="12700">
            <a:solidFill>
              <a:srgbClr val="E9A8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914400"/>
            <a:ext cx="9034272" cy="36576"/>
          </a:xfrm>
          <a:prstGeom prst="rect">
            <a:avLst/>
          </a:prstGeom>
          <a:solidFill>
            <a:srgbClr val="E9A824"/>
          </a:solidFill>
          <a:ln w="12700">
            <a:solidFill>
              <a:srgbClr val="E9A8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d'Avancement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8595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✅  Fondations — 308 fichiers · infra complète · 4 modules · 40 fichiers de tests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✅  Logique métier — migrations · flow vérification · numéros de certification séquentiels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🔵  API certification — cycle complet · endpoint vérification QR (en cours)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⬜  Pilot ready — 3 coopératives · données seedées · Swagger · Prometheus (planifié)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 story points planifiés  ·  99 livrés  ·  Dans les délais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: 10 ADR publiés · conforme CNDP · tests Testcontainers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tests s'exécutent sur de vraies bases de données — pas des mocks.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9A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terroir.ma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A824"/>
          </a:solidFill>
          <a:ln w="12700">
            <a:solidFill>
              <a:srgbClr val="E9A8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914400"/>
            <a:ext cx="9034272" cy="36576"/>
          </a:xfrm>
          <a:prstGeom prst="rect">
            <a:avLst/>
          </a:prstGeom>
          <a:solidFill>
            <a:srgbClr val="E9A824"/>
          </a:solidFill>
          <a:ln w="12700">
            <a:solidFill>
              <a:srgbClr val="E9A8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Demande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8595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ne demandons pas un million de dollars.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PILOTE 3 COOPÉRATIVES (de MAPMDREF / ONSSA / Fédération)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12 semaines  ·  Données réelles  ·  Rapport d'impact complet  ·  Zéro coût infra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AVAL DE CONFORMITÉ OFFICIEL (Direction SDOQ — MAPMDREF)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Une phrase : "Terroir.ma est conforme à la Loi 25-06"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Cette phrase vaut plus que n'importe quel tour d'investissement.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INVESTISSEUR STRATÉGIQUE (agri-tech, impact ou marché UE)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Pathway Series A  ·  Support contrats B2G  ·  Expansion Maroc-first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plateforme est construite. Les tests passent. L'architecture est publiée.</a:t>
            </a:r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seule question : êtes-vous avec nous 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9A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terroir.ma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9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0848" y="0"/>
            <a:ext cx="73152" cy="68580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9A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femme qui récolte des filaments de safran à la main à Taliouine avant l'aube mérite la même protection qu'un château AOC bordelais.</a:t>
            </a:r>
            <a:endParaRPr lang="en-US" sz="2000" dirty="0"/>
          </a:p>
          <a:p>
            <a:pPr algn="l" indent="0" marL="0">
              <a:lnSpc>
                <a:spcPct val="140000"/>
              </a:lnSpc>
              <a:buNone/>
            </a:pPr>
            <a:endParaRPr lang="en-US" sz="2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L'huile d'argan authentique mérite d'être distinguable du faux — pas par des mots, mais par la preuve.</a:t>
            </a:r>
            <a:endParaRPr lang="en-US" sz="2000" dirty="0"/>
          </a:p>
          <a:p>
            <a:pPr algn="l" indent="0" marL="0">
              <a:lnSpc>
                <a:spcPct val="140000"/>
              </a:lnSpc>
              <a:buNone/>
            </a:pPr>
            <a:endParaRPr lang="en-US" sz="2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patrimoine agricole marocain — construit sur des générations, gagné avec un travail réel, certifié sous une vraie loi — mérite une infrastructure numérique qui le protège.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5212080"/>
            <a:ext cx="8229600" cy="36576"/>
          </a:xfrm>
          <a:prstGeom prst="rect">
            <a:avLst/>
          </a:prstGeom>
          <a:solidFill>
            <a:srgbClr val="E9A824"/>
          </a:solidFill>
          <a:ln w="12700">
            <a:solidFill>
              <a:srgbClr val="E9A8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349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Terroir.ma est cette infrastructure. Construite. Testée. Prête.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6126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terroir.ma  ·  April 2026  ·  Sprint 1 + 2 Complete  ·  204 Story Points MVP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D6A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77440"/>
            <a:ext cx="12192000" cy="54864"/>
          </a:xfrm>
          <a:prstGeom prst="rect">
            <a:avLst/>
          </a:prstGeom>
          <a:solidFill>
            <a:srgbClr val="E9A824"/>
          </a:solidFill>
          <a:ln w="12700">
            <a:solidFill>
              <a:srgbClr val="E9A8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القسم الثالث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25603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E9A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بالدارجة المغربية — التعاونيات · المستثمرين المغاربة · هيئات القطاع الفلاحي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6217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9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terroir.ma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A824"/>
          </a:solidFill>
          <a:ln w="12700">
            <a:solidFill>
              <a:srgbClr val="E9A8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914400"/>
            <a:ext cx="9034272" cy="36576"/>
          </a:xfrm>
          <a:prstGeom prst="rect">
            <a:avLst/>
          </a:prstGeom>
          <a:solidFill>
            <a:srgbClr val="E9A824"/>
          </a:solidFill>
          <a:ln w="12700">
            <a:solidFill>
              <a:srgbClr val="E9A8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المشكلة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8595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المغرب كيخسر +200 مليون أورو فالسنة بسبب المنتجات الفلاحية المزورة.</a:t>
            </a:r>
            <a:pPr algn="r" marL="127000" indent="-127000">
              <a:spcAft>
                <a:spcPts val="600"/>
              </a:spcAft>
              <a:buSzPct val="100000"/>
              <a:buChar char="•"/>
            </a:pPr>
            <a:pPr algn="r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مشي لأن الشهادات ما كاينة.</a:t>
            </a:r>
            <a:pPr algn="r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مشي لأن التعاونيات ما خدامة.</a:t>
            </a:r>
            <a:pPr algn="r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مشي لأن المخابر ما كتحلل.</a:t>
            </a:r>
            <a:pPr algn="r" marL="127000" indent="-127000">
              <a:spcAft>
                <a:spcPts val="600"/>
              </a:spcAft>
              <a:buSzPct val="100000"/>
              <a:buChar char="•"/>
            </a:pPr>
            <a:pPr algn="r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لأن كل حاجة مهمة — على ورقة. بالعربية. فدرج. ما مبينة فبرلين الساعة 9 ديال الليل.</a:t>
            </a:r>
            <a:pPr algn="r" marL="127000" indent="-127000">
              <a:spcAft>
                <a:spcPts val="600"/>
              </a:spcAft>
              <a:buSzPct val="100000"/>
              <a:buChar char="•"/>
            </a:pPr>
            <a:pPr algn="r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فاطمة — رئيسة تعاونية فتالوين — عندها كل الوثائق على ورق.</a:t>
            </a:r>
            <a:pPr algn="r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زبون من ألمانيا طلب "شهادة رقمية" قبل ما يوقع عقد 80,000 أورو.</a:t>
            </a:r>
            <a:pPr algn="r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هي ما قدرت تجيبو جواب.  →  خسرات العقد.</a:t>
            </a:r>
            <a:pPr algn="r" marL="127000" indent="-127000">
              <a:spcAft>
                <a:spcPts val="600"/>
              </a:spcAft>
              <a:buSzPct val="100000"/>
              <a:buChar char="•"/>
            </a:pPr>
            <a:pPr algn="r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هاد الموقف كيتكرر بمئات المرات كل سنة فكوبيراتيفات المغرب.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9A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terroir.ma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A824"/>
          </a:solidFill>
          <a:ln w="12700">
            <a:solidFill>
              <a:srgbClr val="E9A8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914400"/>
            <a:ext cx="9034272" cy="36576"/>
          </a:xfrm>
          <a:prstGeom prst="rect">
            <a:avLst/>
          </a:prstGeom>
          <a:solidFill>
            <a:srgbClr val="E9A824"/>
          </a:solidFill>
          <a:ln w="12700">
            <a:solidFill>
              <a:srgbClr val="E9A8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حجم السوق</a:t>
            </a:r>
            <a:endParaRPr lang="en-US" sz="2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5029200"/>
              </a:tblGrid>
              <a:tr h="4114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المؤشر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القيمة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+1,800 كوبيراتيف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مسجلة SDOQ فالمغرب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علامة رسمية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AOP · IGP · Label Agricole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+300 مليون أورو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صادرات سنوية ديال المنتجات ذات التسمية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180–220 مليون أورو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خسارة سنوية بسبب التزوير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الاتحاد الأوروبي كيفرض التتبع الرقمي على المنتجات المستوردة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التعاونيات بلا رقمنة دابا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0467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9A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terroir.ma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A824"/>
          </a:solidFill>
          <a:ln w="12700">
            <a:solidFill>
              <a:srgbClr val="E9A8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914400"/>
            <a:ext cx="9034272" cy="36576"/>
          </a:xfrm>
          <a:prstGeom prst="rect">
            <a:avLst/>
          </a:prstGeom>
          <a:solidFill>
            <a:srgbClr val="E9A824"/>
          </a:solidFill>
          <a:ln w="12700">
            <a:solidFill>
              <a:srgbClr val="E9A8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الحل — QR code واحد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8595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Terroir.ma كتضيف طبقة رقمية فوق العملية الموجودة — بلا ما تبدل حتى خطوة.</a:t>
            </a:r>
            <a:pPr algn="r" marL="127000" indent="-127000">
              <a:spcAft>
                <a:spcPts val="600"/>
              </a:spcAft>
              <a:buSzPct val="100000"/>
              <a:buChar char="•"/>
            </a:pPr>
            <a:pPr algn="r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الكوبيراتيف تسجل في 15 دقيقة</a:t>
            </a:r>
            <a:pPr algn="r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الحصاد يتسجل مع إحداثيات GPS ديال الضيعة</a:t>
            </a:r>
            <a:pPr algn="r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المخبر يدخل النتائج رقميًا</a:t>
            </a:r>
            <a:pPr algn="r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المفتش يملأ تقريرو بالتابلت</a:t>
            </a:r>
            <a:pPr algn="r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هيئة المصادقة تمنح أو ترفض</a:t>
            </a:r>
            <a:pPr algn="r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فالحين كيتولد:</a:t>
            </a:r>
            <a:pPr algn="r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• QR code موقع رقميًا بـ HMAC-SHA256 — ما يتزورش</a:t>
            </a:r>
            <a:pPr algn="r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• رقم تسلسلي: TERROIR-IGP-TLN-2025-018</a:t>
            </a:r>
            <a:pPr algn="r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• معلومات بالفرنسية والعربية والتيفيناغ</a:t>
            </a:r>
            <a:pPr algn="r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• سجل لا يمحى لكل خطوة</a:t>
            </a:r>
            <a:pPr algn="r" marL="127000" indent="-127000">
              <a:spcAft>
                <a:spcPts val="600"/>
              </a:spcAft>
              <a:buSzPct val="100000"/>
              <a:buChar char="•"/>
            </a:pPr>
            <a:pPr algn="r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أي شخص يسكان QR → 2 ثانية → كلشي مبيَّن → بلا وسيط.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9A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terroir.ma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A824"/>
          </a:solidFill>
          <a:ln w="12700">
            <a:solidFill>
              <a:srgbClr val="E9A8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914400"/>
            <a:ext cx="9034272" cy="36576"/>
          </a:xfrm>
          <a:prstGeom prst="rect">
            <a:avLst/>
          </a:prstGeom>
          <a:solidFill>
            <a:srgbClr val="E9A824"/>
          </a:solidFill>
          <a:ln w="12700">
            <a:solidFill>
              <a:srgbClr val="E9A8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أين نحن من المنافسة</a:t>
            </a:r>
            <a:endParaRPr lang="en-US" sz="2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463040"/>
                <a:gridCol w="1828800"/>
                <a:gridCol w="1737360"/>
                <a:gridCol w="1280160"/>
              </a:tblGrid>
              <a:tr h="4114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المنصة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البلد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التيفيناغ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 موقع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القانون المحلي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INAO Digital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فرنسا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القانون الفرنسي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DOP Portal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إيطاليا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القانون الإيطالي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AgriTrace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غانا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جزئي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Terroir.ma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المغرب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تيفيناغ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HMAC-SHA256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القانون 25-06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0467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9A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terroir.ma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A824"/>
          </a:solidFill>
          <a:ln w="12700">
            <a:solidFill>
              <a:srgbClr val="E9A8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914400"/>
            <a:ext cx="9034272" cy="36576"/>
          </a:xfrm>
          <a:prstGeom prst="rect">
            <a:avLst/>
          </a:prstGeom>
          <a:solidFill>
            <a:srgbClr val="E9A824"/>
          </a:solidFill>
          <a:ln w="12700">
            <a:solidFill>
              <a:srgbClr val="E9A8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9728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النموذج الاقتصادي</a:t>
            </a:r>
            <a:endParaRPr lang="en-US" sz="2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2651760"/>
              </a:tblGrid>
              <a:tr h="4114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خط الدخل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السعر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الحجم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 مع التعاونيات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درهم / شهر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100,000 درهم/شهر عند 500 كوبيراتيف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B2G مع الدولة والهيئات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500,000 – 2,000,000 درهم/سنة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عقد سنوي MAPMDREF / ONSSA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premium للتصدير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حسب الاتفاق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المستوردين الأوروبيين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قبل / بعد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قبل Terroir.ma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مع Terroir.ma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مدة الشهادة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يوم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أيام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التحقق من الزبون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تيليفون + 3 أيام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سكان QR في 2 ثانية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الكشف عن التزوير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مستحيل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 مزور كيعطي 404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E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0467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9A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terroir.ma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A824"/>
          </a:solidFill>
          <a:ln w="12700">
            <a:solidFill>
              <a:srgbClr val="E9A8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914400"/>
            <a:ext cx="9034272" cy="36576"/>
          </a:xfrm>
          <a:prstGeom prst="rect">
            <a:avLst/>
          </a:prstGeom>
          <a:solidFill>
            <a:srgbClr val="E9A824"/>
          </a:solidFill>
          <a:ln w="12700">
            <a:solidFill>
              <a:srgbClr val="E9A8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وين وصلنا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8595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✅  308 ملف — البنية الكاملة، كل الinfra، 4 modules</a:t>
            </a:r>
            <a:pPr algn="r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✅  قاعدة البيانات، عملية التحقق، الأرقام التسلسلية للشهادات</a:t>
            </a:r>
            <a:pPr algn="r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 🔵  الدورة الكاملة للشهادة، endpoint التحقق من QR (جاري)</a:t>
            </a:r>
            <a:pPr algn="r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⬜  تجربة 3 كوبيراتيفات، Swagger، monitoring (مخطط)</a:t>
            </a:r>
            <a:pPr algn="r" marL="127000" indent="-127000">
              <a:spcAft>
                <a:spcPts val="600"/>
              </a:spcAft>
              <a:buSzPct val="100000"/>
              <a:buChar char="•"/>
            </a:pPr>
            <a:pPr algn="r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 story points مخططة  ·  99 منجزة  ·  فالوقت</a:t>
            </a:r>
            <a:pPr algn="r" marL="127000" indent="-127000">
              <a:spcAft>
                <a:spcPts val="600"/>
              </a:spcAft>
              <a:buSzPct val="100000"/>
              <a:buChar char="•"/>
            </a:pPr>
            <a:pPr algn="r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المعمارية: 10 ADR منشورة · مطابق للـ CNDP · اختبارات Testcontainers</a:t>
            </a:r>
            <a:pPr algn="r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الاختبارات كتشتغل على قواعد بيانات حقيقية — مشي mocks.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9A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terroir.ma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9A824"/>
          </a:solidFill>
          <a:ln w="12700">
            <a:solidFill>
              <a:srgbClr val="E9A8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914400"/>
            <a:ext cx="9034272" cy="36576"/>
          </a:xfrm>
          <a:prstGeom prst="rect">
            <a:avLst/>
          </a:prstGeom>
          <a:solidFill>
            <a:srgbClr val="E9A824"/>
          </a:solidFill>
          <a:ln w="12700">
            <a:solidFill>
              <a:srgbClr val="E9A8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شنو كنطلبو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85953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 طلبناش مليون دولار.</a:t>
            </a:r>
            <a:pPr algn="r" marL="127000" indent="-127000">
              <a:spcAft>
                <a:spcPts val="600"/>
              </a:spcAft>
              <a:buSzPct val="100000"/>
              <a:buChar char="•"/>
            </a:pPr>
            <a:pPr algn="r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برنامج تجريبي — 3 كوبيراتيفات (من MAPMDREF · ONSSA · الفيدرالية)</a:t>
            </a:r>
            <a:pPr algn="r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12 أسبوع  ·  بيانات حقيقية  ·  تقرير كامل  ·  ما كاين حتى تكلفة بنية تحتية</a:t>
            </a:r>
            <a:pPr algn="r" marL="127000" indent="-127000">
              <a:spcAft>
                <a:spcPts val="600"/>
              </a:spcAft>
              <a:buSzPct val="100000"/>
              <a:buChar char="•"/>
            </a:pPr>
            <a:pPr algn="r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مصادقة رسمية على المطابقة (المديرية ديال SDOQ)</a:t>
            </a:r>
            <a:pPr algn="r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جملة واحدة: "Terroir.ma مطابق للقانون 25-06"</a:t>
            </a:r>
            <a:pPr algn="r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هاد الجملة تسوى أكثر من أي جولة استثمار.</a:t>
            </a:r>
            <a:pPr algn="r" marL="127000" indent="-127000">
              <a:spcAft>
                <a:spcPts val="600"/>
              </a:spcAft>
              <a:buSzPct val="100000"/>
              <a:buChar char="•"/>
            </a:pPr>
            <a:pPr algn="r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شريك مستثمر (صندوق agri-tech أو impact أو سوق أوروبي)</a:t>
            </a:r>
            <a:pPr algn="r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pathway Series A  ·  دعم عقود B2G  ·  توسع المغرب أولًا</a:t>
            </a:r>
            <a:pPr algn="r" marL="127000" indent="-127000">
              <a:spcAft>
                <a:spcPts val="600"/>
              </a:spcAft>
              <a:buSzPct val="100000"/>
              <a:buChar char="•"/>
            </a:pPr>
            <a:pPr algn="r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المنصة مبنية. الاختبارات ناجحة. المعمارية منشورة.</a:t>
            </a:r>
            <a:pPr algn="r" marL="127000" indent="-1270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السؤال الوحيد: واش أنتم معنا؟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9A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terroir.ma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9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70848" y="0"/>
            <a:ext cx="73152" cy="68580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9A8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2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المرأة اللي كتلقط خيوط الزعفران بيديها باكر فتالوين كتستاهل نفس الحماية اللي كيحمل بها شاتو أوروبي.</a:t>
            </a:r>
            <a:endParaRPr lang="en-US" sz="2000" dirty="0"/>
          </a:p>
          <a:p>
            <a:pPr algn="r" indent="0" marL="0">
              <a:lnSpc>
                <a:spcPct val="140000"/>
              </a:lnSpc>
              <a:buNone/>
            </a:pPr>
            <a:endParaRPr lang="en-US" sz="2000" dirty="0"/>
          </a:p>
          <a:p>
            <a:pPr algn="r" indent="0" marL="0">
              <a:lnSpc>
                <a:spcPct val="140000"/>
              </a:lnSpc>
              <a:buNone/>
            </a:pPr>
            <a:r>
              <a:rPr lang="en-US" sz="2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زيت الأركان الأصلي كيستاهل يتميز عن المزيف — مشي بالكلام — بالإثبات.</a:t>
            </a:r>
            <a:endParaRPr lang="en-US" sz="2000" dirty="0"/>
          </a:p>
          <a:p>
            <a:pPr algn="r" indent="0" marL="0">
              <a:lnSpc>
                <a:spcPct val="140000"/>
              </a:lnSpc>
              <a:buNone/>
            </a:pPr>
            <a:endParaRPr lang="en-US" sz="2000" dirty="0"/>
          </a:p>
          <a:p>
            <a:pPr algn="r" indent="0" marL="0">
              <a:lnSpc>
                <a:spcPct val="140000"/>
              </a:lnSpc>
              <a:buNone/>
            </a:pPr>
            <a:r>
              <a:rPr lang="en-US" sz="2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التراث الفلاحي المغربي — مبني عبر الأجيال، مكسوب بعمل حقيقي، مصادق عليه بقانون حقيقي — كيستاهل بنية تحتية رقمية تحميه.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5212080"/>
            <a:ext cx="8229600" cy="36576"/>
          </a:xfrm>
          <a:prstGeom prst="rect">
            <a:avLst/>
          </a:prstGeom>
          <a:solidFill>
            <a:srgbClr val="E9A824"/>
          </a:solidFill>
          <a:ln w="12700">
            <a:solidFill>
              <a:srgbClr val="E9A8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349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Terroir.ma هي هاد البنية. مبنية. مختبرة. جاهزة.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6126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terroir.ma  ·  April 2026  ·  Sprint 1 + 2 Complete  ·  204 Story Points MVP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Terroir.ma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Terroir.ma — Pitch Deck 2026</dc:title>
  <dc:subject>Terroir.ma Investor Pitch Deck</dc:subject>
  <dc:creator>Terroir.ma</dc:creator>
  <cp:lastModifiedBy>Terroir.ma</cp:lastModifiedBy>
  <cp:revision>1</cp:revision>
  <dcterms:created xsi:type="dcterms:W3CDTF">2026-04-25T19:12:06Z</dcterms:created>
  <dcterms:modified xsi:type="dcterms:W3CDTF">2026-04-25T19:12:06Z</dcterms:modified>
</cp:coreProperties>
</file>